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14"/>
  </p:notesMasterIdLst>
  <p:sldIdLst>
    <p:sldId id="257" r:id="rId3"/>
    <p:sldId id="270" r:id="rId4"/>
    <p:sldId id="261" r:id="rId5"/>
    <p:sldId id="280" r:id="rId6"/>
    <p:sldId id="284" r:id="rId7"/>
    <p:sldId id="282" r:id="rId8"/>
    <p:sldId id="283" r:id="rId9"/>
    <p:sldId id="276" r:id="rId10"/>
    <p:sldId id="274" r:id="rId11"/>
    <p:sldId id="266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EEAFF-064C-44F7-B791-5590B9D333B8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6E0DD-C8BE-4C54-A03A-399D1717F46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5848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6e3e8b4a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36e3e8b4a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e1d838b62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e1d838b627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e1d838b62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e1d838b62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13fccb6c87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13fccb6c87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BC9C9EE-DF08-E466-F9D1-95C4A825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e1d838b627_4_100:notes">
            <a:extLst>
              <a:ext uri="{FF2B5EF4-FFF2-40B4-BE49-F238E27FC236}">
                <a16:creationId xmlns:a16="http://schemas.microsoft.com/office/drawing/2014/main" id="{6BE7D1A7-6A3F-EF46-0D20-0E8DFB7063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e1d838b627_4_100:notes">
            <a:extLst>
              <a:ext uri="{FF2B5EF4-FFF2-40B4-BE49-F238E27FC236}">
                <a16:creationId xmlns:a16="http://schemas.microsoft.com/office/drawing/2014/main" id="{BE1A1CE5-5CD3-5267-2B1D-6F491B7BB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272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e1d838b627_4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e1d838b627_4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e1d838b627_4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e1d838b627_4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05799" y="1492600"/>
            <a:ext cx="7709600" cy="30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7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05800" y="4937767"/>
            <a:ext cx="3070800" cy="81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3281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950967" y="3558484"/>
            <a:ext cx="6452400" cy="112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9549833" y="560017"/>
            <a:ext cx="1691200" cy="169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950967" y="4680884"/>
            <a:ext cx="64524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85638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20600" y="2536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4133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3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Google Shape;25;p4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347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721000" y="3230629"/>
            <a:ext cx="3876800" cy="56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6594167" y="3230629"/>
            <a:ext cx="3876800" cy="56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721000" y="3718379"/>
            <a:ext cx="3876800" cy="13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6594167" y="3718379"/>
            <a:ext cx="3876800" cy="13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2" name="Google Shape;32;p5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33;p5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0001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6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6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9075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1364300" y="2096900"/>
            <a:ext cx="4710800" cy="3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42" name="Google Shape;42;p7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43;p7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5288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283567" y="1824533"/>
            <a:ext cx="6062000" cy="92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283567" y="3259367"/>
            <a:ext cx="60620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9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50;p9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9"/>
          <p:cNvCxnSpPr/>
          <p:nvPr/>
        </p:nvCxnSpPr>
        <p:spPr>
          <a:xfrm>
            <a:off x="10494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52;p9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545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950967" y="4500567"/>
            <a:ext cx="5954000" cy="15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256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 hasCustomPrompt="1"/>
          </p:nvPr>
        </p:nvSpPr>
        <p:spPr>
          <a:xfrm>
            <a:off x="2459600" y="2099200"/>
            <a:ext cx="7171200" cy="13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666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subTitle" idx="1"/>
          </p:nvPr>
        </p:nvSpPr>
        <p:spPr>
          <a:xfrm>
            <a:off x="2459600" y="3986333"/>
            <a:ext cx="7171200" cy="49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cxnSp>
        <p:nvCxnSpPr>
          <p:cNvPr id="58" name="Google Shape;58;p11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11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11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1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7355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57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2323300" y="2425500"/>
            <a:ext cx="346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2"/>
          </p:nvPr>
        </p:nvSpPr>
        <p:spPr>
          <a:xfrm>
            <a:off x="7773833" y="2425500"/>
            <a:ext cx="346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3"/>
          </p:nvPr>
        </p:nvSpPr>
        <p:spPr>
          <a:xfrm>
            <a:off x="2323300" y="4855433"/>
            <a:ext cx="346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4"/>
          </p:nvPr>
        </p:nvSpPr>
        <p:spPr>
          <a:xfrm>
            <a:off x="7773833" y="4855435"/>
            <a:ext cx="346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5" hasCustomPrompt="1"/>
          </p:nvPr>
        </p:nvSpPr>
        <p:spPr>
          <a:xfrm>
            <a:off x="959996" y="2083420"/>
            <a:ext cx="1286000" cy="97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6" hasCustomPrompt="1"/>
          </p:nvPr>
        </p:nvSpPr>
        <p:spPr>
          <a:xfrm>
            <a:off x="960000" y="4517287"/>
            <a:ext cx="1286000" cy="9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7" hasCustomPrompt="1"/>
          </p:nvPr>
        </p:nvSpPr>
        <p:spPr>
          <a:xfrm>
            <a:off x="6406767" y="2084820"/>
            <a:ext cx="1286000" cy="9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8" hasCustomPrompt="1"/>
          </p:nvPr>
        </p:nvSpPr>
        <p:spPr>
          <a:xfrm>
            <a:off x="6406767" y="4517289"/>
            <a:ext cx="1286000" cy="9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9"/>
          </p:nvPr>
        </p:nvSpPr>
        <p:spPr>
          <a:xfrm>
            <a:off x="2323300" y="1981300"/>
            <a:ext cx="3467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3"/>
          </p:nvPr>
        </p:nvSpPr>
        <p:spPr>
          <a:xfrm>
            <a:off x="2323300" y="4411400"/>
            <a:ext cx="3467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4"/>
          </p:nvPr>
        </p:nvSpPr>
        <p:spPr>
          <a:xfrm>
            <a:off x="7773833" y="1981300"/>
            <a:ext cx="3467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5"/>
          </p:nvPr>
        </p:nvSpPr>
        <p:spPr>
          <a:xfrm>
            <a:off x="7773833" y="4411401"/>
            <a:ext cx="3467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77" name="Google Shape;77;p13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78;p13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42456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4327100" y="3622784"/>
            <a:ext cx="6452400" cy="112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520017"/>
            <a:ext cx="1691200" cy="1692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4327100" y="4745184"/>
            <a:ext cx="64524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5353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subTitle" idx="1"/>
          </p:nvPr>
        </p:nvSpPr>
        <p:spPr>
          <a:xfrm>
            <a:off x="6483800" y="3270239"/>
            <a:ext cx="4461600" cy="11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953467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86" name="Google Shape;86;p15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15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41207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ubTitle" idx="1"/>
          </p:nvPr>
        </p:nvSpPr>
        <p:spPr>
          <a:xfrm>
            <a:off x="1557267" y="3099020"/>
            <a:ext cx="3115200" cy="10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2"/>
          </p:nvPr>
        </p:nvSpPr>
        <p:spPr>
          <a:xfrm>
            <a:off x="4538400" y="4816655"/>
            <a:ext cx="3115200" cy="10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3"/>
          </p:nvPr>
        </p:nvSpPr>
        <p:spPr>
          <a:xfrm>
            <a:off x="7519533" y="3099020"/>
            <a:ext cx="3115200" cy="10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ubTitle" idx="4"/>
          </p:nvPr>
        </p:nvSpPr>
        <p:spPr>
          <a:xfrm>
            <a:off x="1557267" y="2630033"/>
            <a:ext cx="3115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5"/>
          </p:nvPr>
        </p:nvSpPr>
        <p:spPr>
          <a:xfrm>
            <a:off x="7519533" y="2630033"/>
            <a:ext cx="3115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6"/>
          </p:nvPr>
        </p:nvSpPr>
        <p:spPr>
          <a:xfrm>
            <a:off x="4538400" y="4348900"/>
            <a:ext cx="3115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96" name="Google Shape;96;p16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6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6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01900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subTitle" idx="1"/>
          </p:nvPr>
        </p:nvSpPr>
        <p:spPr>
          <a:xfrm>
            <a:off x="959967" y="2947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2"/>
          </p:nvPr>
        </p:nvSpPr>
        <p:spPr>
          <a:xfrm>
            <a:off x="4558996" y="2947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ubTitle" idx="3"/>
          </p:nvPr>
        </p:nvSpPr>
        <p:spPr>
          <a:xfrm>
            <a:off x="959967" y="5163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subTitle" idx="4"/>
          </p:nvPr>
        </p:nvSpPr>
        <p:spPr>
          <a:xfrm>
            <a:off x="4558996" y="5163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5"/>
          </p:nvPr>
        </p:nvSpPr>
        <p:spPr>
          <a:xfrm>
            <a:off x="8158031" y="2947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6"/>
          </p:nvPr>
        </p:nvSpPr>
        <p:spPr>
          <a:xfrm>
            <a:off x="8158031" y="5163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7"/>
          </p:nvPr>
        </p:nvSpPr>
        <p:spPr>
          <a:xfrm>
            <a:off x="959967" y="2627767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8"/>
          </p:nvPr>
        </p:nvSpPr>
        <p:spPr>
          <a:xfrm>
            <a:off x="4558996" y="2627767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9"/>
          </p:nvPr>
        </p:nvSpPr>
        <p:spPr>
          <a:xfrm>
            <a:off x="8158031" y="2627767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13"/>
          </p:nvPr>
        </p:nvSpPr>
        <p:spPr>
          <a:xfrm>
            <a:off x="959967" y="4843833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4"/>
          </p:nvPr>
        </p:nvSpPr>
        <p:spPr>
          <a:xfrm>
            <a:off x="4558996" y="4843833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5"/>
          </p:nvPr>
        </p:nvSpPr>
        <p:spPr>
          <a:xfrm>
            <a:off x="8158031" y="4843833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3" name="Google Shape;113;p17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" name="Google Shape;114;p17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54763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3823173"/>
            <a:ext cx="304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1"/>
          </p:nvPr>
        </p:nvSpPr>
        <p:spPr>
          <a:xfrm>
            <a:off x="960000" y="4899547"/>
            <a:ext cx="304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title" idx="3" hasCustomPrompt="1"/>
          </p:nvPr>
        </p:nvSpPr>
        <p:spPr>
          <a:xfrm>
            <a:off x="4572000" y="3823157"/>
            <a:ext cx="304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4"/>
          </p:nvPr>
        </p:nvSpPr>
        <p:spPr>
          <a:xfrm>
            <a:off x="4572000" y="4899508"/>
            <a:ext cx="304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title" idx="5" hasCustomPrompt="1"/>
          </p:nvPr>
        </p:nvSpPr>
        <p:spPr>
          <a:xfrm>
            <a:off x="8184000" y="3823157"/>
            <a:ext cx="304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6"/>
          </p:nvPr>
        </p:nvSpPr>
        <p:spPr>
          <a:xfrm>
            <a:off x="8184000" y="4899508"/>
            <a:ext cx="304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3" name="Google Shape;123;p18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8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8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57455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1350165" y="618400"/>
            <a:ext cx="98264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9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1"/>
          </p:nvPr>
        </p:nvSpPr>
        <p:spPr>
          <a:xfrm>
            <a:off x="3297965" y="224651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2"/>
          </p:nvPr>
        </p:nvSpPr>
        <p:spPr>
          <a:xfrm>
            <a:off x="3904765" y="4744300"/>
            <a:ext cx="4717200" cy="5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2966165" y="5275500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CREDITS: This presentation template was created by </a:t>
            </a:r>
            <a:r>
              <a:rPr lang="en" sz="1600" u="sng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, and includes icons by </a:t>
            </a:r>
            <a:r>
              <a:rPr lang="en" sz="1600" u="sng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, and infographics &amp; images by </a:t>
            </a:r>
            <a:r>
              <a:rPr lang="en" sz="1600" u="sng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 </a:t>
            </a:r>
            <a:endParaRPr sz="1600" u="sng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cxnSp>
        <p:nvCxnSpPr>
          <p:cNvPr id="131" name="Google Shape;131;p19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9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9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9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63297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0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20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138;p20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20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94370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21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21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782871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05799" y="1492600"/>
            <a:ext cx="7709600" cy="30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7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05800" y="4937767"/>
            <a:ext cx="3070800" cy="81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35829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950967" y="3558484"/>
            <a:ext cx="6452400" cy="112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9549833" y="560017"/>
            <a:ext cx="1691200" cy="169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950967" y="4680884"/>
            <a:ext cx="64524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85638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20600" y="2536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69928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3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Google Shape;25;p4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36374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721000" y="3230629"/>
            <a:ext cx="3876800" cy="56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6594167" y="3230629"/>
            <a:ext cx="3876800" cy="56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721000" y="3718379"/>
            <a:ext cx="3876800" cy="13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6594167" y="3718379"/>
            <a:ext cx="3876800" cy="13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2" name="Google Shape;32;p5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33;p5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393459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6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6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577674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1364300" y="2096900"/>
            <a:ext cx="4710800" cy="3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42" name="Google Shape;42;p7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43;p7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467062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850817" y="1298700"/>
            <a:ext cx="8490400" cy="3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933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9585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283567" y="1824533"/>
            <a:ext cx="6062000" cy="92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283567" y="3259367"/>
            <a:ext cx="60620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9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50;p9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9"/>
          <p:cNvCxnSpPr/>
          <p:nvPr/>
        </p:nvCxnSpPr>
        <p:spPr>
          <a:xfrm>
            <a:off x="10494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52;p9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583497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950967" y="4500567"/>
            <a:ext cx="5954000" cy="15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38745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 hasCustomPrompt="1"/>
          </p:nvPr>
        </p:nvSpPr>
        <p:spPr>
          <a:xfrm>
            <a:off x="2459600" y="2099200"/>
            <a:ext cx="7171200" cy="13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666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subTitle" idx="1"/>
          </p:nvPr>
        </p:nvSpPr>
        <p:spPr>
          <a:xfrm>
            <a:off x="2459600" y="3986333"/>
            <a:ext cx="7171200" cy="49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cxnSp>
        <p:nvCxnSpPr>
          <p:cNvPr id="58" name="Google Shape;58;p11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11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11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1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826435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5447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2323300" y="2425500"/>
            <a:ext cx="346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2"/>
          </p:nvPr>
        </p:nvSpPr>
        <p:spPr>
          <a:xfrm>
            <a:off x="7773833" y="2425500"/>
            <a:ext cx="346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3"/>
          </p:nvPr>
        </p:nvSpPr>
        <p:spPr>
          <a:xfrm>
            <a:off x="2323300" y="4855433"/>
            <a:ext cx="346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4"/>
          </p:nvPr>
        </p:nvSpPr>
        <p:spPr>
          <a:xfrm>
            <a:off x="7773833" y="4855435"/>
            <a:ext cx="346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5" hasCustomPrompt="1"/>
          </p:nvPr>
        </p:nvSpPr>
        <p:spPr>
          <a:xfrm>
            <a:off x="959996" y="2083420"/>
            <a:ext cx="1286000" cy="97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6" hasCustomPrompt="1"/>
          </p:nvPr>
        </p:nvSpPr>
        <p:spPr>
          <a:xfrm>
            <a:off x="960000" y="4517287"/>
            <a:ext cx="1286000" cy="9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7" hasCustomPrompt="1"/>
          </p:nvPr>
        </p:nvSpPr>
        <p:spPr>
          <a:xfrm>
            <a:off x="6406767" y="2084820"/>
            <a:ext cx="1286000" cy="9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8" hasCustomPrompt="1"/>
          </p:nvPr>
        </p:nvSpPr>
        <p:spPr>
          <a:xfrm>
            <a:off x="6406767" y="4517289"/>
            <a:ext cx="1286000" cy="9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9"/>
          </p:nvPr>
        </p:nvSpPr>
        <p:spPr>
          <a:xfrm>
            <a:off x="2323300" y="1981300"/>
            <a:ext cx="3467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3"/>
          </p:nvPr>
        </p:nvSpPr>
        <p:spPr>
          <a:xfrm>
            <a:off x="2323300" y="4411400"/>
            <a:ext cx="3467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4"/>
          </p:nvPr>
        </p:nvSpPr>
        <p:spPr>
          <a:xfrm>
            <a:off x="7773833" y="1981300"/>
            <a:ext cx="3467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5"/>
          </p:nvPr>
        </p:nvSpPr>
        <p:spPr>
          <a:xfrm>
            <a:off x="7773833" y="4411401"/>
            <a:ext cx="3467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77" name="Google Shape;77;p13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78;p13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403308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4327100" y="3622784"/>
            <a:ext cx="6452400" cy="112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520017"/>
            <a:ext cx="1691200" cy="1692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4327100" y="4745184"/>
            <a:ext cx="64524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46838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subTitle" idx="1"/>
          </p:nvPr>
        </p:nvSpPr>
        <p:spPr>
          <a:xfrm>
            <a:off x="6483800" y="3270239"/>
            <a:ext cx="4461600" cy="11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953467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86" name="Google Shape;86;p15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15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38511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ubTitle" idx="1"/>
          </p:nvPr>
        </p:nvSpPr>
        <p:spPr>
          <a:xfrm>
            <a:off x="1557267" y="3099020"/>
            <a:ext cx="3115200" cy="10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2"/>
          </p:nvPr>
        </p:nvSpPr>
        <p:spPr>
          <a:xfrm>
            <a:off x="4538400" y="4816655"/>
            <a:ext cx="3115200" cy="10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3"/>
          </p:nvPr>
        </p:nvSpPr>
        <p:spPr>
          <a:xfrm>
            <a:off x="7519533" y="3099020"/>
            <a:ext cx="3115200" cy="10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ubTitle" idx="4"/>
          </p:nvPr>
        </p:nvSpPr>
        <p:spPr>
          <a:xfrm>
            <a:off x="1557267" y="2630033"/>
            <a:ext cx="3115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5"/>
          </p:nvPr>
        </p:nvSpPr>
        <p:spPr>
          <a:xfrm>
            <a:off x="7519533" y="2630033"/>
            <a:ext cx="3115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6"/>
          </p:nvPr>
        </p:nvSpPr>
        <p:spPr>
          <a:xfrm>
            <a:off x="4538400" y="4348900"/>
            <a:ext cx="3115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96" name="Google Shape;96;p16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6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6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456923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subTitle" idx="1"/>
          </p:nvPr>
        </p:nvSpPr>
        <p:spPr>
          <a:xfrm>
            <a:off x="959967" y="2947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2"/>
          </p:nvPr>
        </p:nvSpPr>
        <p:spPr>
          <a:xfrm>
            <a:off x="4558996" y="2947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ubTitle" idx="3"/>
          </p:nvPr>
        </p:nvSpPr>
        <p:spPr>
          <a:xfrm>
            <a:off x="959967" y="5163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subTitle" idx="4"/>
          </p:nvPr>
        </p:nvSpPr>
        <p:spPr>
          <a:xfrm>
            <a:off x="4558996" y="5163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5"/>
          </p:nvPr>
        </p:nvSpPr>
        <p:spPr>
          <a:xfrm>
            <a:off x="8158031" y="2947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6"/>
          </p:nvPr>
        </p:nvSpPr>
        <p:spPr>
          <a:xfrm>
            <a:off x="8158031" y="51630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7"/>
          </p:nvPr>
        </p:nvSpPr>
        <p:spPr>
          <a:xfrm>
            <a:off x="959967" y="2627767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8"/>
          </p:nvPr>
        </p:nvSpPr>
        <p:spPr>
          <a:xfrm>
            <a:off x="4558996" y="2627767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9"/>
          </p:nvPr>
        </p:nvSpPr>
        <p:spPr>
          <a:xfrm>
            <a:off x="8158031" y="2627767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13"/>
          </p:nvPr>
        </p:nvSpPr>
        <p:spPr>
          <a:xfrm>
            <a:off x="959967" y="4843833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4"/>
          </p:nvPr>
        </p:nvSpPr>
        <p:spPr>
          <a:xfrm>
            <a:off x="4558996" y="4843833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5"/>
          </p:nvPr>
        </p:nvSpPr>
        <p:spPr>
          <a:xfrm>
            <a:off x="8158031" y="4843833"/>
            <a:ext cx="3074000" cy="5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3" name="Google Shape;113;p17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" name="Google Shape;114;p17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305641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3823173"/>
            <a:ext cx="304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1"/>
          </p:nvPr>
        </p:nvSpPr>
        <p:spPr>
          <a:xfrm>
            <a:off x="960000" y="4899547"/>
            <a:ext cx="304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title" idx="3" hasCustomPrompt="1"/>
          </p:nvPr>
        </p:nvSpPr>
        <p:spPr>
          <a:xfrm>
            <a:off x="4572000" y="3823157"/>
            <a:ext cx="304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4"/>
          </p:nvPr>
        </p:nvSpPr>
        <p:spPr>
          <a:xfrm>
            <a:off x="4572000" y="4899508"/>
            <a:ext cx="304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title" idx="5" hasCustomPrompt="1"/>
          </p:nvPr>
        </p:nvSpPr>
        <p:spPr>
          <a:xfrm>
            <a:off x="8184000" y="3823157"/>
            <a:ext cx="304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6"/>
          </p:nvPr>
        </p:nvSpPr>
        <p:spPr>
          <a:xfrm>
            <a:off x="8184000" y="4899508"/>
            <a:ext cx="304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3" name="Google Shape;123;p18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8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8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545677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1350165" y="618400"/>
            <a:ext cx="98264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9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1"/>
          </p:nvPr>
        </p:nvSpPr>
        <p:spPr>
          <a:xfrm>
            <a:off x="3297965" y="224651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2"/>
          </p:nvPr>
        </p:nvSpPr>
        <p:spPr>
          <a:xfrm>
            <a:off x="3904765" y="4744300"/>
            <a:ext cx="4717200" cy="5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2966165" y="5275500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CREDITS: This presentation template was created by </a:t>
            </a:r>
            <a:r>
              <a:rPr lang="en" sz="1600" u="sng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, and includes icons by </a:t>
            </a:r>
            <a:r>
              <a:rPr lang="en" sz="1600" u="sng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, and infographics &amp; images by </a:t>
            </a:r>
            <a:r>
              <a:rPr lang="en" sz="1600" u="sng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 </a:t>
            </a:r>
            <a:endParaRPr sz="1600" u="sng"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cxnSp>
        <p:nvCxnSpPr>
          <p:cNvPr id="131" name="Google Shape;131;p19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9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9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9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642508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0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20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138;p20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20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660511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21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21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0044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53323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ic Didone"/>
              <a:buNone/>
              <a:defRPr sz="35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43987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>
            <a:spLocks noGrp="1"/>
          </p:cNvSpPr>
          <p:nvPr>
            <p:ph type="ctrTitle"/>
          </p:nvPr>
        </p:nvSpPr>
        <p:spPr>
          <a:xfrm>
            <a:off x="2205799" y="1492600"/>
            <a:ext cx="7709600" cy="304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5100" dirty="0">
                <a:latin typeface="SimSun" panose="02010600030101010101" pitchFamily="2" charset="-122"/>
                <a:ea typeface="SimSun" panose="02010600030101010101" pitchFamily="2" charset="-122"/>
              </a:rPr>
              <a:t>Supply Chain Delivery Performance &amp; Financial Risk Analysis</a:t>
            </a:r>
            <a:endParaRPr sz="51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54" name="Google Shape;154;p25"/>
          <p:cNvSpPr txBox="1">
            <a:spLocks noGrp="1"/>
          </p:cNvSpPr>
          <p:nvPr>
            <p:ph type="subTitle" idx="1"/>
          </p:nvPr>
        </p:nvSpPr>
        <p:spPr>
          <a:xfrm>
            <a:off x="2205800" y="4937767"/>
            <a:ext cx="3070800" cy="8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Identifying Systemic Delivery Delays and Their Financial Impact</a:t>
            </a:r>
            <a:endParaRPr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7494192" y="1159497"/>
            <a:ext cx="2492000" cy="64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buClr>
                <a:srgbClr val="000000"/>
              </a:buClr>
            </a:pPr>
            <a:r>
              <a:rPr lang="en" sz="2000" i="1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Antic Didone"/>
                <a:sym typeface="Antic Didone"/>
              </a:rPr>
              <a:t>Adiel Krisnanda Franstito</a:t>
            </a:r>
            <a:endParaRPr sz="100" i="1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Arial"/>
              <a:sym typeface="Arial"/>
            </a:endParaRPr>
          </a:p>
        </p:txBody>
      </p:sp>
      <p:cxnSp>
        <p:nvCxnSpPr>
          <p:cNvPr id="156" name="Google Shape;156;p25"/>
          <p:cNvCxnSpPr>
            <a:stCxn id="154" idx="3"/>
          </p:cNvCxnSpPr>
          <p:nvPr/>
        </p:nvCxnSpPr>
        <p:spPr>
          <a:xfrm>
            <a:off x="5276600" y="5346967"/>
            <a:ext cx="463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>
            <a:spLocks noGrp="1"/>
          </p:cNvSpPr>
          <p:nvPr>
            <p:ph type="title"/>
          </p:nvPr>
        </p:nvSpPr>
        <p:spPr>
          <a:xfrm>
            <a:off x="1850733" y="625229"/>
            <a:ext cx="8490400" cy="92969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D" sz="5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Executive Summary</a:t>
            </a:r>
            <a:endParaRPr sz="50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-67" y="-17233"/>
            <a:ext cx="12192000" cy="8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Arial"/>
              <a:sym typeface="Arial"/>
            </a:endParaRPr>
          </a:p>
        </p:txBody>
      </p:sp>
      <p:sp>
        <p:nvSpPr>
          <p:cNvPr id="533" name="Google Shape;533;p39"/>
          <p:cNvSpPr/>
          <p:nvPr/>
        </p:nvSpPr>
        <p:spPr>
          <a:xfrm>
            <a:off x="-67" y="6000800"/>
            <a:ext cx="12192000" cy="8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Arial"/>
              <a:sym typeface="Arial"/>
            </a:endParaRPr>
          </a:p>
        </p:txBody>
      </p:sp>
      <p:cxnSp>
        <p:nvCxnSpPr>
          <p:cNvPr id="534" name="Google Shape;534;p39"/>
          <p:cNvCxnSpPr/>
          <p:nvPr/>
        </p:nvCxnSpPr>
        <p:spPr>
          <a:xfrm>
            <a:off x="-20600" y="504667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5" name="Google Shape;535;p39"/>
          <p:cNvCxnSpPr/>
          <p:nvPr/>
        </p:nvCxnSpPr>
        <p:spPr>
          <a:xfrm>
            <a:off x="-20600" y="6353333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39"/>
          <p:cNvCxnSpPr/>
          <p:nvPr/>
        </p:nvCxnSpPr>
        <p:spPr>
          <a:xfrm>
            <a:off x="11510217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39"/>
          <p:cNvCxnSpPr/>
          <p:nvPr/>
        </p:nvCxnSpPr>
        <p:spPr>
          <a:xfrm>
            <a:off x="681784" y="-16200"/>
            <a:ext cx="0" cy="689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39"/>
          <p:cNvCxnSpPr/>
          <p:nvPr/>
        </p:nvCxnSpPr>
        <p:spPr>
          <a:xfrm>
            <a:off x="3776600" y="1673411"/>
            <a:ext cx="463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80;p44">
            <a:extLst>
              <a:ext uri="{FF2B5EF4-FFF2-40B4-BE49-F238E27FC236}">
                <a16:creationId xmlns:a16="http://schemas.microsoft.com/office/drawing/2014/main" id="{B4FF457D-6429-CCE5-D6AF-C62A8A32F006}"/>
              </a:ext>
            </a:extLst>
          </p:cNvPr>
          <p:cNvSpPr txBox="1"/>
          <p:nvPr/>
        </p:nvSpPr>
        <p:spPr>
          <a:xfrm>
            <a:off x="1121791" y="1791898"/>
            <a:ext cx="9992407" cy="442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Bullet Points: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2040204020203" pitchFamily="34" charset="-122"/>
              <a:ea typeface="Microsoft YaHei Light" panose="020B0502040204020203" pitchFamily="34" charset="-122"/>
              <a:cs typeface="Nunito Light"/>
              <a:sym typeface="Nunito Light"/>
            </a:endParaRP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57% of total orders experienced late delivery, indicating a </a:t>
            </a: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systemic supply chain issue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 rather than a regional problem.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Late delivery rates remain consistent across </a:t>
            </a: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markets and regions, suggesting structural inefficiencies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Moderate and high-risk delays generate </a:t>
            </a: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disproportionate revenue loss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, despite lower order volume.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Faster shipping modes </a:t>
            </a: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reduce delay duration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 but </a:t>
            </a: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fail to significantly reduce late delivery rates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A severity-based prioritization strategy presents the highest opportunity to </a:t>
            </a: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reduce financial risk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Nunito Light"/>
                <a:sym typeface="Nunito Light"/>
              </a:rPr>
              <a:t>.</a:t>
            </a:r>
            <a:endParaRPr kumimoji="0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2040204020203" pitchFamily="34" charset="-122"/>
              <a:ea typeface="Microsoft YaHei Light" panose="020B0502040204020203" pitchFamily="34" charset="-122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D" dirty="0"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Himalaya" panose="01010100010101010101" pitchFamily="2" charset="0"/>
              </a:rPr>
              <a:t>Business Problem &amp; Objectives</a:t>
            </a:r>
            <a:endParaRPr dirty="0">
              <a:latin typeface="Microsoft YaHei Light" panose="020B0502040204020203" pitchFamily="34" charset="-122"/>
              <a:ea typeface="Microsoft YaHei Light" panose="020B0502040204020203" pitchFamily="34" charset="-122"/>
              <a:cs typeface="Microsoft Himalaya" panose="01010100010101010101" pitchFamily="2" charset="0"/>
            </a:endParaRPr>
          </a:p>
        </p:txBody>
      </p:sp>
      <p:graphicFrame>
        <p:nvGraphicFramePr>
          <p:cNvPr id="162" name="Google Shape;162;p26"/>
          <p:cNvGraphicFramePr/>
          <p:nvPr>
            <p:extLst>
              <p:ext uri="{D42A27DB-BD31-4B8C-83A1-F6EECF244321}">
                <p14:modId xmlns:p14="http://schemas.microsoft.com/office/powerpoint/2010/main" val="2867954820"/>
              </p:ext>
            </p:extLst>
          </p:nvPr>
        </p:nvGraphicFramePr>
        <p:xfrm>
          <a:off x="1093950" y="2069587"/>
          <a:ext cx="10137983" cy="1417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137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High late-delivery rates negatively impacting customer experience and revenue.</a:t>
                      </a:r>
                      <a:endParaRPr sz="1500" dirty="0">
                        <a:solidFill>
                          <a:schemeClr val="dk1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Limited visibility into which delays actually drive financial risk.</a:t>
                      </a:r>
                      <a:endParaRPr sz="1500" dirty="0">
                        <a:solidFill>
                          <a:schemeClr val="dk1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Operational decisions are often based on volume, not severity or impact.</a:t>
                      </a:r>
                      <a:endParaRPr sz="1500" dirty="0">
                        <a:solidFill>
                          <a:schemeClr val="dk1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3" name="Google Shape;163;p26"/>
          <p:cNvSpPr txBox="1"/>
          <p:nvPr/>
        </p:nvSpPr>
        <p:spPr>
          <a:xfrm>
            <a:off x="1093933" y="1535167"/>
            <a:ext cx="10138000" cy="44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0" bIns="121900" anchor="t" anchorCtr="0">
            <a:noAutofit/>
          </a:bodyPr>
          <a:lstStyle/>
          <a:p>
            <a:pPr marL="285750" indent="-285750" defTabSz="121917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ID" sz="1600" b="1" kern="0" dirty="0">
                <a:solidFill>
                  <a:srgbClr val="0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Himalaya" panose="01010100010101010101" pitchFamily="2" charset="0"/>
                <a:sym typeface="Nunito Medium"/>
              </a:rPr>
              <a:t>Business Problem</a:t>
            </a:r>
            <a:endParaRPr sz="1600" b="1" kern="0" dirty="0">
              <a:solidFill>
                <a:srgbClr val="00000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icrosoft Himalaya" panose="01010100010101010101" pitchFamily="2" charset="0"/>
              <a:sym typeface="Nunito Light"/>
            </a:endParaRPr>
          </a:p>
        </p:txBody>
      </p:sp>
      <p:sp>
        <p:nvSpPr>
          <p:cNvPr id="2" name="Google Shape;163;p26">
            <a:extLst>
              <a:ext uri="{FF2B5EF4-FFF2-40B4-BE49-F238E27FC236}">
                <a16:creationId xmlns:a16="http://schemas.microsoft.com/office/drawing/2014/main" id="{8199CFEB-2DDC-E828-9CB8-BA70DB950605}"/>
              </a:ext>
            </a:extLst>
          </p:cNvPr>
          <p:cNvSpPr txBox="1"/>
          <p:nvPr/>
        </p:nvSpPr>
        <p:spPr>
          <a:xfrm>
            <a:off x="1093933" y="3681925"/>
            <a:ext cx="10138000" cy="44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0" bIns="121900" anchor="t" anchorCtr="0">
            <a:noAutofit/>
          </a:bodyPr>
          <a:lstStyle/>
          <a:p>
            <a:pPr marL="285750" indent="-285750" defTabSz="121917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ID" sz="1600" b="1" kern="0" dirty="0">
                <a:solidFill>
                  <a:srgbClr val="0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Himalaya" panose="01010100010101010101" pitchFamily="2" charset="0"/>
                <a:sym typeface="Nunito Medium"/>
              </a:rPr>
              <a:t>Project Objectives</a:t>
            </a:r>
            <a:endParaRPr sz="1600" b="1" kern="0" dirty="0">
              <a:solidFill>
                <a:srgbClr val="00000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icrosoft Himalaya" panose="01010100010101010101" pitchFamily="2" charset="0"/>
              <a:sym typeface="Nunito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0EC827-C650-EE49-88F1-CB20B6FDF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708424"/>
              </p:ext>
            </p:extLst>
          </p:nvPr>
        </p:nvGraphicFramePr>
        <p:xfrm>
          <a:off x="1093933" y="4189821"/>
          <a:ext cx="10137983" cy="1417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137983">
                  <a:extLst>
                    <a:ext uri="{9D8B030D-6E8A-4147-A177-3AD203B41FA5}">
                      <a16:colId xmlns:a16="http://schemas.microsoft.com/office/drawing/2014/main" val="4071518186"/>
                    </a:ext>
                  </a:extLst>
                </a:gridCol>
              </a:tblGrid>
              <a:tr h="467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Identify key drivers of delivery delays.</a:t>
                      </a:r>
                      <a:endParaRPr sz="1500" dirty="0">
                        <a:solidFill>
                          <a:schemeClr val="dk1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742898"/>
                  </a:ext>
                </a:extLst>
              </a:tr>
              <a:tr h="467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Quantify financial impact of delay severity.</a:t>
                      </a:r>
                      <a:endParaRPr sz="1500" dirty="0">
                        <a:solidFill>
                          <a:schemeClr val="dk1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402629"/>
                  </a:ext>
                </a:extLst>
              </a:tr>
              <a:tr h="467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Provide actionable, data-driven recommendations.</a:t>
                      </a:r>
                      <a:endParaRPr sz="1500" dirty="0">
                        <a:solidFill>
                          <a:schemeClr val="dk1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9479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4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D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Dataset Overview</a:t>
            </a:r>
            <a:endParaRPr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210" name="Google Shape;1210;p49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60021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dk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Dataset </a:t>
            </a: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: Order-level delivery</a:t>
            </a:r>
          </a:p>
          <a:p>
            <a:pPr marL="0" indent="0">
              <a:buNone/>
            </a:pPr>
            <a:endParaRPr lang="en-US" dirty="0">
              <a:solidFill>
                <a:schemeClr val="dk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dk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Key attributes: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Market &amp; region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Shipping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Delivery delay (days)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Delay severity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Sales &amp; lost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dk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Analytical Approach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KPI design using DAX (Late Delivery %, Lost Revenue, Risk Rate)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Segmentation by </a:t>
            </a:r>
            <a:r>
              <a:rPr 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market, region, shipping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Risk classification based on delay severity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Interactive analysis using </a:t>
            </a:r>
            <a:r>
              <a:rPr 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Power BI</a:t>
            </a:r>
            <a:endParaRPr lang="en-US" b="1" dirty="0">
              <a:solidFill>
                <a:schemeClr val="dk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81463C28-27D5-B38F-4092-EE7ACF68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>
            <a:extLst>
              <a:ext uri="{FF2B5EF4-FFF2-40B4-BE49-F238E27FC236}">
                <a16:creationId xmlns:a16="http://schemas.microsoft.com/office/drawing/2014/main" id="{F98AAD42-77DF-4DB3-1960-7E3D39910B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95404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D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Delivery Performance Overview</a:t>
            </a:r>
            <a:endParaRPr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8" name="Google Shape;580;p44">
            <a:extLst>
              <a:ext uri="{FF2B5EF4-FFF2-40B4-BE49-F238E27FC236}">
                <a16:creationId xmlns:a16="http://schemas.microsoft.com/office/drawing/2014/main" id="{111235F2-4E08-8D58-B439-862C23FFF214}"/>
              </a:ext>
            </a:extLst>
          </p:cNvPr>
          <p:cNvSpPr txBox="1"/>
          <p:nvPr/>
        </p:nvSpPr>
        <p:spPr>
          <a:xfrm>
            <a:off x="8158000" y="1356967"/>
            <a:ext cx="3074000" cy="279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Key Takeaways: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 Light" panose="020B0502040204020203" pitchFamily="34" charset="-122"/>
              <a:ea typeface="Microsoft YaHei UI Light" panose="020B0502040204020203" pitchFamily="34" charset="-122"/>
              <a:cs typeface="Nunito Light"/>
              <a:sym typeface="Nunito Light"/>
            </a:endParaRP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Late deliveries account for the majority of total orders.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Volume alone does not reflect financial or operational risk.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Deeper severity analysis is required.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 Light" panose="020B0502040204020203" pitchFamily="34" charset="-122"/>
              <a:ea typeface="Microsoft YaHei UI Light" panose="020B0502040204020203" pitchFamily="34" charset="-122"/>
              <a:cs typeface="Nunito Light"/>
              <a:sym typeface="Nunito Light"/>
            </a:endParaRPr>
          </a:p>
        </p:txBody>
      </p:sp>
      <p:sp>
        <p:nvSpPr>
          <p:cNvPr id="13" name="Google Shape;580;p44">
            <a:extLst>
              <a:ext uri="{FF2B5EF4-FFF2-40B4-BE49-F238E27FC236}">
                <a16:creationId xmlns:a16="http://schemas.microsoft.com/office/drawing/2014/main" id="{C53DA752-08C5-AEEB-9D4E-5485B2D681E1}"/>
              </a:ext>
            </a:extLst>
          </p:cNvPr>
          <p:cNvSpPr txBox="1"/>
          <p:nvPr/>
        </p:nvSpPr>
        <p:spPr>
          <a:xfrm>
            <a:off x="841266" y="5501033"/>
            <a:ext cx="7552404" cy="67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Delivery delays remain consistently high across time, with mild delays dominating in volume but not necessarily in risk.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 Light" panose="020B0502040204020203" pitchFamily="34" charset="-122"/>
              <a:ea typeface="Microsoft YaHei UI Light" panose="020B0502040204020203" pitchFamily="34" charset="-122"/>
              <a:cs typeface="Nunito Light"/>
              <a:sym typeface="Nunito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B126C-AE5F-402B-733D-736C90CB3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66" y="1356967"/>
            <a:ext cx="7316734" cy="409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62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5FD6-072E-BCD5-4DCB-3AF54E03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FA16-7E4B-28D3-44D2-982AF6B1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303117"/>
            <a:ext cx="10272000" cy="763600"/>
          </a:xfrm>
        </p:spPr>
        <p:txBody>
          <a:bodyPr/>
          <a:lstStyle/>
          <a:p>
            <a:r>
              <a:rPr lang="en-ID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Market &amp; Shipping Mode Insights</a:t>
            </a:r>
          </a:p>
        </p:txBody>
      </p:sp>
      <p:sp>
        <p:nvSpPr>
          <p:cNvPr id="3" name="Google Shape;580;p44">
            <a:extLst>
              <a:ext uri="{FF2B5EF4-FFF2-40B4-BE49-F238E27FC236}">
                <a16:creationId xmlns:a16="http://schemas.microsoft.com/office/drawing/2014/main" id="{9B93172A-6663-AB2B-324B-EDB727440702}"/>
              </a:ext>
            </a:extLst>
          </p:cNvPr>
          <p:cNvSpPr txBox="1"/>
          <p:nvPr/>
        </p:nvSpPr>
        <p:spPr>
          <a:xfrm>
            <a:off x="8268825" y="1480009"/>
            <a:ext cx="3074000" cy="360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Key Insights: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 Light" panose="020B0502040204020203" pitchFamily="34" charset="-122"/>
              <a:ea typeface="Microsoft YaHei UI Light" panose="020B0502040204020203" pitchFamily="34" charset="-122"/>
              <a:cs typeface="Nunito Light"/>
              <a:sym typeface="Nunito Light"/>
            </a:endParaRP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Late delivery is not market-specific.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Regional differences are minimal.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Premium shipping modes reduce delay days but not late-delivery probability.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 Light" panose="020B0502040204020203" pitchFamily="34" charset="-122"/>
              <a:ea typeface="Microsoft YaHei UI Light" panose="020B0502040204020203" pitchFamily="34" charset="-122"/>
              <a:cs typeface="Nunito Light"/>
              <a:sym typeface="Nunito Light"/>
            </a:endParaRPr>
          </a:p>
        </p:txBody>
      </p:sp>
      <p:sp>
        <p:nvSpPr>
          <p:cNvPr id="4" name="Google Shape;580;p44">
            <a:extLst>
              <a:ext uri="{FF2B5EF4-FFF2-40B4-BE49-F238E27FC236}">
                <a16:creationId xmlns:a16="http://schemas.microsoft.com/office/drawing/2014/main" id="{30762A8C-18D7-21B3-69E8-6D7F3CA908FF}"/>
              </a:ext>
            </a:extLst>
          </p:cNvPr>
          <p:cNvSpPr txBox="1"/>
          <p:nvPr/>
        </p:nvSpPr>
        <p:spPr>
          <a:xfrm>
            <a:off x="960000" y="5712548"/>
            <a:ext cx="7552404" cy="55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Market and shipping speed alone do not explain delivery performance issues.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 Light" panose="020B0502040204020203" pitchFamily="34" charset="-122"/>
              <a:ea typeface="Microsoft YaHei UI Light" panose="020B0502040204020203" pitchFamily="34" charset="-122"/>
              <a:cs typeface="Nunito Light"/>
              <a:sym typeface="Nunito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21C88-FCCF-FEB9-8285-85EA5287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81" y="1311778"/>
            <a:ext cx="7566144" cy="423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15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447B9-A7F1-97C8-3CCC-46042D91A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CBEE-1A53-0824-2104-9AC6187B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Delivery Risk &amp; Financial Impact</a:t>
            </a:r>
          </a:p>
        </p:txBody>
      </p:sp>
      <p:sp>
        <p:nvSpPr>
          <p:cNvPr id="3" name="Google Shape;580;p44">
            <a:extLst>
              <a:ext uri="{FF2B5EF4-FFF2-40B4-BE49-F238E27FC236}">
                <a16:creationId xmlns:a16="http://schemas.microsoft.com/office/drawing/2014/main" id="{45833FA0-6683-9D1D-434B-D7700CF8B420}"/>
              </a:ext>
            </a:extLst>
          </p:cNvPr>
          <p:cNvSpPr txBox="1"/>
          <p:nvPr/>
        </p:nvSpPr>
        <p:spPr>
          <a:xfrm>
            <a:off x="8268825" y="1480009"/>
            <a:ext cx="3074000" cy="360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Key Insights: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 Light" panose="020B0502040204020203" pitchFamily="34" charset="-122"/>
              <a:ea typeface="Microsoft YaHei UI Light" panose="020B0502040204020203" pitchFamily="34" charset="-122"/>
              <a:cs typeface="Nunito Light"/>
              <a:sym typeface="Nunito Light"/>
            </a:endParaRP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Moderate and high-risk delays contribute significantly to lost revenue.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Financial impact is driven by severity, not frequency.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unito Light"/>
                <a:sym typeface="Nunito Light"/>
              </a:rPr>
              <a:t>Small portions of orders create outsized risk.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 Light" panose="020B0502040204020203" pitchFamily="34" charset="-122"/>
              <a:ea typeface="Microsoft YaHei UI Light" panose="020B0502040204020203" pitchFamily="34" charset="-122"/>
              <a:cs typeface="Nunito Light"/>
              <a:sym typeface="Nunito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04F43-4F75-954A-8EFA-FA46DC064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68" y="1558827"/>
            <a:ext cx="7621462" cy="418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9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D" sz="4000" dirty="0">
                <a:latin typeface="SimSun" panose="02010600030101010101" pitchFamily="2" charset="-122"/>
                <a:ea typeface="SimSun" panose="02010600030101010101" pitchFamily="2" charset="-122"/>
              </a:rPr>
              <a:t>Key Business Insights</a:t>
            </a:r>
            <a:endParaRPr sz="4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94" name="Google Shape;594;p45"/>
          <p:cNvSpPr/>
          <p:nvPr/>
        </p:nvSpPr>
        <p:spPr>
          <a:xfrm>
            <a:off x="2235500" y="3314267"/>
            <a:ext cx="1167600" cy="114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3200" kern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Antic Didone"/>
                <a:sym typeface="Antic Didone"/>
              </a:rPr>
              <a:t>01.</a:t>
            </a:r>
            <a:endParaRPr sz="3200" ker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Antic Didone"/>
              <a:sym typeface="Antic Didone"/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4419988" y="3314267"/>
            <a:ext cx="1167600" cy="114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3200" kern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Antic Didone"/>
                <a:sym typeface="Antic Didone"/>
              </a:rPr>
              <a:t>02.</a:t>
            </a:r>
            <a:endParaRPr sz="3200" ker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Antic Didone"/>
              <a:sym typeface="Antic Didone"/>
            </a:endParaRPr>
          </a:p>
        </p:txBody>
      </p:sp>
      <p:sp>
        <p:nvSpPr>
          <p:cNvPr id="596" name="Google Shape;596;p45"/>
          <p:cNvSpPr/>
          <p:nvPr/>
        </p:nvSpPr>
        <p:spPr>
          <a:xfrm>
            <a:off x="6604476" y="3314267"/>
            <a:ext cx="1167600" cy="114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3200" kern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Antic Didone"/>
                <a:sym typeface="Antic Didone"/>
              </a:rPr>
              <a:t>03.</a:t>
            </a:r>
            <a:endParaRPr sz="3200" ker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Antic Didone"/>
              <a:sym typeface="Antic Didone"/>
            </a:endParaRPr>
          </a:p>
        </p:txBody>
      </p:sp>
      <p:sp>
        <p:nvSpPr>
          <p:cNvPr id="597" name="Google Shape;597;p45"/>
          <p:cNvSpPr/>
          <p:nvPr/>
        </p:nvSpPr>
        <p:spPr>
          <a:xfrm>
            <a:off x="8788964" y="3314267"/>
            <a:ext cx="1167600" cy="114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3200" kern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Antic Didone"/>
                <a:sym typeface="Antic Didone"/>
              </a:rPr>
              <a:t>04.</a:t>
            </a:r>
            <a:endParaRPr sz="3200" ker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Antic Didone"/>
              <a:sym typeface="Antic Didone"/>
            </a:endParaRPr>
          </a:p>
        </p:txBody>
      </p:sp>
      <p:cxnSp>
        <p:nvCxnSpPr>
          <p:cNvPr id="598" name="Google Shape;598;p45"/>
          <p:cNvCxnSpPr>
            <a:stCxn id="594" idx="3"/>
            <a:endCxn id="595" idx="1"/>
          </p:cNvCxnSpPr>
          <p:nvPr/>
        </p:nvCxnSpPr>
        <p:spPr>
          <a:xfrm>
            <a:off x="3403100" y="3887867"/>
            <a:ext cx="101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45"/>
          <p:cNvCxnSpPr>
            <a:stCxn id="595" idx="3"/>
            <a:endCxn id="596" idx="1"/>
          </p:cNvCxnSpPr>
          <p:nvPr/>
        </p:nvCxnSpPr>
        <p:spPr>
          <a:xfrm>
            <a:off x="5587588" y="3887867"/>
            <a:ext cx="101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45"/>
          <p:cNvCxnSpPr>
            <a:stCxn id="596" idx="3"/>
            <a:endCxn id="597" idx="1"/>
          </p:cNvCxnSpPr>
          <p:nvPr/>
        </p:nvCxnSpPr>
        <p:spPr>
          <a:xfrm>
            <a:off x="7772076" y="3887867"/>
            <a:ext cx="101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2" name="Google Shape;602;p45"/>
          <p:cNvSpPr txBox="1"/>
          <p:nvPr/>
        </p:nvSpPr>
        <p:spPr>
          <a:xfrm>
            <a:off x="1282300" y="4801033"/>
            <a:ext cx="3074000" cy="109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Nunito Light"/>
                <a:sym typeface="Nunito Light"/>
              </a:rPr>
              <a:t>Delivery delays are systemic across the supply chain</a:t>
            </a:r>
            <a:endParaRPr sz="1867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Nunito Light"/>
              <a:sym typeface="Nunito Light"/>
            </a:endParaRPr>
          </a:p>
        </p:txBody>
      </p:sp>
      <p:sp>
        <p:nvSpPr>
          <p:cNvPr id="604" name="Google Shape;604;p45"/>
          <p:cNvSpPr txBox="1"/>
          <p:nvPr/>
        </p:nvSpPr>
        <p:spPr>
          <a:xfrm>
            <a:off x="3466755" y="1930567"/>
            <a:ext cx="3074000" cy="107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Nunito Light"/>
                <a:sym typeface="Nunito Light"/>
              </a:rPr>
              <a:t>Revenue loss is concentrated in higher-severity delays</a:t>
            </a:r>
            <a:endParaRPr sz="1867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Nunito Light"/>
              <a:sym typeface="Nunito Light"/>
            </a:endParaRPr>
          </a:p>
        </p:txBody>
      </p:sp>
      <p:sp>
        <p:nvSpPr>
          <p:cNvPr id="606" name="Google Shape;606;p45"/>
          <p:cNvSpPr txBox="1"/>
          <p:nvPr/>
        </p:nvSpPr>
        <p:spPr>
          <a:xfrm>
            <a:off x="5651276" y="4772238"/>
            <a:ext cx="3074000" cy="109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Nunito Light"/>
                <a:sym typeface="Nunito Light"/>
              </a:rPr>
              <a:t>Improving speed without workflow optimization offers limited benefit</a:t>
            </a:r>
            <a:endParaRPr sz="1867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Nunito Light"/>
              <a:sym typeface="Nunito Light"/>
            </a:endParaRPr>
          </a:p>
        </p:txBody>
      </p:sp>
      <p:sp>
        <p:nvSpPr>
          <p:cNvPr id="608" name="Google Shape;608;p45"/>
          <p:cNvSpPr txBox="1"/>
          <p:nvPr/>
        </p:nvSpPr>
        <p:spPr>
          <a:xfrm>
            <a:off x="7835731" y="1930567"/>
            <a:ext cx="3074000" cy="107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Nunito Light"/>
                <a:sym typeface="Nunito Light"/>
              </a:rPr>
              <a:t>Risk-based analysis provides clearer decision support</a:t>
            </a:r>
            <a:endParaRPr sz="1867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Nunito Light"/>
              <a:sym typeface="Nunito Light"/>
            </a:endParaRPr>
          </a:p>
        </p:txBody>
      </p:sp>
      <p:cxnSp>
        <p:nvCxnSpPr>
          <p:cNvPr id="609" name="Google Shape;609;p45"/>
          <p:cNvCxnSpPr>
            <a:cxnSpLocks/>
            <a:stCxn id="594" idx="2"/>
          </p:cNvCxnSpPr>
          <p:nvPr/>
        </p:nvCxnSpPr>
        <p:spPr>
          <a:xfrm>
            <a:off x="2819300" y="4461467"/>
            <a:ext cx="0" cy="36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0" name="Google Shape;610;p45"/>
          <p:cNvCxnSpPr>
            <a:cxnSpLocks/>
            <a:stCxn id="595" idx="0"/>
            <a:endCxn id="604" idx="2"/>
          </p:cNvCxnSpPr>
          <p:nvPr/>
        </p:nvCxnSpPr>
        <p:spPr>
          <a:xfrm flipH="1" flipV="1">
            <a:off x="5003755" y="3002968"/>
            <a:ext cx="33" cy="3112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45"/>
          <p:cNvCxnSpPr>
            <a:cxnSpLocks/>
            <a:stCxn id="596" idx="2"/>
          </p:cNvCxnSpPr>
          <p:nvPr/>
        </p:nvCxnSpPr>
        <p:spPr>
          <a:xfrm>
            <a:off x="7188276" y="4461467"/>
            <a:ext cx="0" cy="36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2" name="Google Shape;612;p45"/>
          <p:cNvCxnSpPr>
            <a:cxnSpLocks/>
            <a:stCxn id="597" idx="0"/>
            <a:endCxn id="608" idx="2"/>
          </p:cNvCxnSpPr>
          <p:nvPr/>
        </p:nvCxnSpPr>
        <p:spPr>
          <a:xfrm flipH="1" flipV="1">
            <a:off x="9372731" y="3002968"/>
            <a:ext cx="33" cy="3112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3"/>
          <p:cNvSpPr txBox="1">
            <a:spLocks noGrp="1"/>
          </p:cNvSpPr>
          <p:nvPr>
            <p:ph type="subTitle" idx="1"/>
          </p:nvPr>
        </p:nvSpPr>
        <p:spPr>
          <a:xfrm>
            <a:off x="1191200" y="1328400"/>
            <a:ext cx="9923002" cy="220665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ID" sz="2200" dirty="0">
                <a:latin typeface="SimSun" panose="02010600030101010101" pitchFamily="2" charset="-122"/>
                <a:ea typeface="SimSun" panose="02010600030101010101" pitchFamily="2" charset="-122"/>
              </a:rPr>
              <a:t>Recommended Actions:</a:t>
            </a:r>
          </a:p>
          <a:p>
            <a:pPr marL="0" indent="0"/>
            <a:endParaRPr lang="en-ID" sz="2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Prioritize mitigation of moderate and high-risk delays.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Re-evaluate shipping workflows, including premium services.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Implement early-warning indicators based on delay severity.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Align operational KPIs with financial risk exposure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573" name="Google Shape;573;p43"/>
          <p:cNvCxnSpPr/>
          <p:nvPr/>
        </p:nvCxnSpPr>
        <p:spPr>
          <a:xfrm>
            <a:off x="-20600" y="3733800"/>
            <a:ext cx="1223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31;p39">
            <a:extLst>
              <a:ext uri="{FF2B5EF4-FFF2-40B4-BE49-F238E27FC236}">
                <a16:creationId xmlns:a16="http://schemas.microsoft.com/office/drawing/2014/main" id="{ADBD4329-3532-DA67-E0FB-D1E54B224C06}"/>
              </a:ext>
            </a:extLst>
          </p:cNvPr>
          <p:cNvSpPr txBox="1">
            <a:spLocks/>
          </p:cNvSpPr>
          <p:nvPr/>
        </p:nvSpPr>
        <p:spPr>
          <a:xfrm>
            <a:off x="1850800" y="471201"/>
            <a:ext cx="8490400" cy="85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0666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>
            <a:r>
              <a:rPr lang="en-ID" sz="4400" kern="0" dirty="0">
                <a:latin typeface="SimSun" panose="02010600030101010101" pitchFamily="2" charset="-122"/>
                <a:ea typeface="SimSun" panose="02010600030101010101" pitchFamily="2" charset="-122"/>
              </a:rPr>
              <a:t>Recommendations &amp; Action Plan</a:t>
            </a:r>
          </a:p>
        </p:txBody>
      </p:sp>
      <p:sp>
        <p:nvSpPr>
          <p:cNvPr id="5" name="Google Shape;572;p43">
            <a:extLst>
              <a:ext uri="{FF2B5EF4-FFF2-40B4-BE49-F238E27FC236}">
                <a16:creationId xmlns:a16="http://schemas.microsoft.com/office/drawing/2014/main" id="{BA926DAD-A21B-92C6-8501-35A1A44EFF10}"/>
              </a:ext>
            </a:extLst>
          </p:cNvPr>
          <p:cNvSpPr txBox="1">
            <a:spLocks/>
          </p:cNvSpPr>
          <p:nvPr/>
        </p:nvSpPr>
        <p:spPr>
          <a:xfrm>
            <a:off x="1191200" y="3932550"/>
            <a:ext cx="9923002" cy="2206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None/>
              <a:defRPr sz="2133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None/>
              <a:defRPr sz="2133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None/>
              <a:defRPr sz="2133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None/>
              <a:defRPr sz="2133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None/>
              <a:defRPr sz="2133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None/>
              <a:defRPr sz="2133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None/>
              <a:defRPr sz="2133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None/>
              <a:defRPr sz="2133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None/>
              <a:defRPr sz="2133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>
            <a:pPr marL="0" indent="0"/>
            <a:r>
              <a:rPr lang="en-US" sz="2200" kern="0" dirty="0">
                <a:latin typeface="SimSun" panose="02010600030101010101" pitchFamily="2" charset="-122"/>
                <a:ea typeface="SimSun" panose="02010600030101010101" pitchFamily="2" charset="-122"/>
              </a:rPr>
              <a:t>Expected Business Impact:</a:t>
            </a:r>
          </a:p>
          <a:p>
            <a:pPr marL="0" indent="0"/>
            <a:endParaRPr lang="en-US" sz="2200" kern="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kern="0" dirty="0">
                <a:latin typeface="SimSun" panose="02010600030101010101" pitchFamily="2" charset="-122"/>
                <a:ea typeface="SimSun" panose="02010600030101010101" pitchFamily="2" charset="-122"/>
              </a:rPr>
              <a:t>Reduced lost revenue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kern="0" dirty="0">
                <a:latin typeface="SimSun" panose="02010600030101010101" pitchFamily="2" charset="-122"/>
                <a:ea typeface="SimSun" panose="02010600030101010101" pitchFamily="2" charset="-122"/>
              </a:rPr>
              <a:t>Improved delivery reliability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kern="0" dirty="0">
                <a:latin typeface="SimSun" panose="02010600030101010101" pitchFamily="2" charset="-122"/>
                <a:ea typeface="SimSun" panose="02010600030101010101" pitchFamily="2" charset="-122"/>
              </a:rPr>
              <a:t>Better operational prioritization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>
            <a:spLocks noGrp="1"/>
          </p:cNvSpPr>
          <p:nvPr>
            <p:ph type="title"/>
          </p:nvPr>
        </p:nvSpPr>
        <p:spPr>
          <a:xfrm>
            <a:off x="960000" y="21210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D" dirty="0">
                <a:latin typeface="SimSun" panose="02010600030101010101" pitchFamily="2" charset="-122"/>
                <a:ea typeface="SimSun" panose="02010600030101010101" pitchFamily="2" charset="-122"/>
              </a:rPr>
              <a:t>Tools, Skills &amp; Value Delivered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03" name="Google Shape;403;p35"/>
          <p:cNvSpPr txBox="1">
            <a:spLocks noGrp="1"/>
          </p:cNvSpPr>
          <p:nvPr>
            <p:ph type="subTitle" idx="7"/>
          </p:nvPr>
        </p:nvSpPr>
        <p:spPr>
          <a:xfrm>
            <a:off x="482972" y="1365210"/>
            <a:ext cx="3074000" cy="522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D" sz="2200" dirty="0">
                <a:latin typeface="SimSun" panose="02010600030101010101" pitchFamily="2" charset="-122"/>
                <a:ea typeface="SimSun" panose="02010600030101010101" pitchFamily="2" charset="-122"/>
              </a:rPr>
              <a:t>Tools &amp; Technologies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98" name="Google Shape;398;p35"/>
          <p:cNvSpPr txBox="1">
            <a:spLocks noGrp="1"/>
          </p:cNvSpPr>
          <p:nvPr>
            <p:ph type="subTitle" idx="1"/>
          </p:nvPr>
        </p:nvSpPr>
        <p:spPr>
          <a:xfrm>
            <a:off x="482972" y="1887610"/>
            <a:ext cx="3074000" cy="196056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D" dirty="0">
                <a:latin typeface="SimSun" panose="02010600030101010101" pitchFamily="2" charset="-122"/>
                <a:ea typeface="SimSun" panose="02010600030101010101" pitchFamily="2" charset="-122"/>
              </a:rPr>
              <a:t>Power BI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D" dirty="0">
                <a:latin typeface="SimSun" panose="02010600030101010101" pitchFamily="2" charset="-122"/>
                <a:ea typeface="SimSun" panose="02010600030101010101" pitchFamily="2" charset="-122"/>
              </a:rPr>
              <a:t>Visual Studio Code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D" dirty="0">
                <a:latin typeface="SimSun" panose="02010600030101010101" pitchFamily="2" charset="-122"/>
                <a:ea typeface="SimSun" panose="02010600030101010101" pitchFamily="2" charset="-122"/>
              </a:rPr>
              <a:t>DAX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D" dirty="0">
                <a:latin typeface="SimSun" panose="02010600030101010101" pitchFamily="2" charset="-122"/>
                <a:ea typeface="SimSun" panose="02010600030101010101" pitchFamily="2" charset="-122"/>
              </a:rPr>
              <a:t>SQL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D" dirty="0">
                <a:latin typeface="SimSun" panose="02010600030101010101" pitchFamily="2" charset="-122"/>
                <a:ea typeface="SimSun" panose="02010600030101010101" pitchFamily="2" charset="-122"/>
              </a:rPr>
              <a:t>Python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2" name="Google Shape;573;p43">
            <a:extLst>
              <a:ext uri="{FF2B5EF4-FFF2-40B4-BE49-F238E27FC236}">
                <a16:creationId xmlns:a16="http://schemas.microsoft.com/office/drawing/2014/main" id="{96D6B24A-A428-2B49-8B94-119798691BAF}"/>
              </a:ext>
            </a:extLst>
          </p:cNvPr>
          <p:cNvCxnSpPr>
            <a:cxnSpLocks/>
          </p:cNvCxnSpPr>
          <p:nvPr/>
        </p:nvCxnSpPr>
        <p:spPr>
          <a:xfrm>
            <a:off x="4033967" y="1451728"/>
            <a:ext cx="0" cy="49322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573;p43">
            <a:extLst>
              <a:ext uri="{FF2B5EF4-FFF2-40B4-BE49-F238E27FC236}">
                <a16:creationId xmlns:a16="http://schemas.microsoft.com/office/drawing/2014/main" id="{20CCDAE6-4A3D-1DD8-88E7-350FBACCBF7A}"/>
              </a:ext>
            </a:extLst>
          </p:cNvPr>
          <p:cNvCxnSpPr>
            <a:cxnSpLocks/>
          </p:cNvCxnSpPr>
          <p:nvPr/>
        </p:nvCxnSpPr>
        <p:spPr>
          <a:xfrm>
            <a:off x="7975942" y="1356967"/>
            <a:ext cx="0" cy="50187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398;p35">
            <a:extLst>
              <a:ext uri="{FF2B5EF4-FFF2-40B4-BE49-F238E27FC236}">
                <a16:creationId xmlns:a16="http://schemas.microsoft.com/office/drawing/2014/main" id="{C2DA9B8E-3D5F-05FF-703A-8144C5B86C9C}"/>
              </a:ext>
            </a:extLst>
          </p:cNvPr>
          <p:cNvSpPr txBox="1">
            <a:spLocks/>
          </p:cNvSpPr>
          <p:nvPr/>
        </p:nvSpPr>
        <p:spPr>
          <a:xfrm>
            <a:off x="8158000" y="1887610"/>
            <a:ext cx="3074000" cy="2561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kern="0" dirty="0">
                <a:latin typeface="SimSun" panose="02010600030101010101" pitchFamily="2" charset="-122"/>
                <a:ea typeface="SimSun" panose="02010600030101010101" pitchFamily="2" charset="-122"/>
              </a:rPr>
              <a:t>Translates operational data into strategic insight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kern="0" dirty="0">
                <a:latin typeface="SimSun" panose="02010600030101010101" pitchFamily="2" charset="-122"/>
                <a:ea typeface="SimSun" panose="02010600030101010101" pitchFamily="2" charset="-122"/>
              </a:rPr>
              <a:t>Enables data-driven risk mitigation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kern="0" dirty="0">
                <a:latin typeface="SimSun" panose="02010600030101010101" pitchFamily="2" charset="-122"/>
                <a:ea typeface="SimSun" panose="02010600030101010101" pitchFamily="2" charset="-122"/>
              </a:rPr>
              <a:t>Supports informed decision-making</a:t>
            </a:r>
            <a:endParaRPr lang="en-ID" kern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4" name="Google Shape;403;p35">
            <a:extLst>
              <a:ext uri="{FF2B5EF4-FFF2-40B4-BE49-F238E27FC236}">
                <a16:creationId xmlns:a16="http://schemas.microsoft.com/office/drawing/2014/main" id="{07877E13-2811-BBA1-B5DD-C3411DB3ECFA}"/>
              </a:ext>
            </a:extLst>
          </p:cNvPr>
          <p:cNvSpPr txBox="1">
            <a:spLocks/>
          </p:cNvSpPr>
          <p:nvPr/>
        </p:nvSpPr>
        <p:spPr>
          <a:xfrm>
            <a:off x="8158000" y="1356967"/>
            <a:ext cx="3074000" cy="5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D" sz="2200" kern="0" dirty="0">
                <a:latin typeface="SimSun" panose="02010600030101010101" pitchFamily="2" charset="-122"/>
                <a:ea typeface="SimSun" panose="02010600030101010101" pitchFamily="2" charset="-122"/>
              </a:rPr>
              <a:t>Value Delivered</a:t>
            </a:r>
          </a:p>
        </p:txBody>
      </p:sp>
      <p:sp>
        <p:nvSpPr>
          <p:cNvPr id="35" name="Google Shape;398;p35">
            <a:extLst>
              <a:ext uri="{FF2B5EF4-FFF2-40B4-BE49-F238E27FC236}">
                <a16:creationId xmlns:a16="http://schemas.microsoft.com/office/drawing/2014/main" id="{262CFA91-7270-5B46-FA99-9CD7555AC2BF}"/>
              </a:ext>
            </a:extLst>
          </p:cNvPr>
          <p:cNvSpPr txBox="1">
            <a:spLocks/>
          </p:cNvSpPr>
          <p:nvPr/>
        </p:nvSpPr>
        <p:spPr>
          <a:xfrm>
            <a:off x="4467955" y="1887611"/>
            <a:ext cx="3074000" cy="324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None/>
              <a:defRPr sz="1867" b="0" i="0" u="none" strike="noStrike" cap="none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kern="0" dirty="0">
                <a:latin typeface="SimSun" panose="02010600030101010101" pitchFamily="2" charset="-122"/>
                <a:ea typeface="SimSun" panose="02010600030101010101" pitchFamily="2" charset="-122"/>
              </a:rPr>
              <a:t>Data cleaning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kern="0" dirty="0">
                <a:latin typeface="SimSun" panose="02010600030101010101" pitchFamily="2" charset="-122"/>
                <a:ea typeface="SimSun" panose="02010600030101010101" pitchFamily="2" charset="-122"/>
              </a:rPr>
              <a:t>Data modeling &amp; KPI development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kern="0" dirty="0">
                <a:latin typeface="SimSun" panose="02010600030101010101" pitchFamily="2" charset="-122"/>
                <a:ea typeface="SimSun" panose="02010600030101010101" pitchFamily="2" charset="-122"/>
              </a:rPr>
              <a:t>Business-oriented analytics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kern="0" dirty="0">
                <a:latin typeface="SimSun" panose="02010600030101010101" pitchFamily="2" charset="-122"/>
                <a:ea typeface="SimSun" panose="02010600030101010101" pitchFamily="2" charset="-122"/>
              </a:rPr>
              <a:t>Financial impact analysis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kern="0" dirty="0">
                <a:latin typeface="SimSun" panose="02010600030101010101" pitchFamily="2" charset="-122"/>
                <a:ea typeface="SimSun" panose="02010600030101010101" pitchFamily="2" charset="-122"/>
              </a:rPr>
              <a:t>Executive-level data storytelling</a:t>
            </a:r>
            <a:endParaRPr lang="en-ID" kern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6" name="Google Shape;403;p35">
            <a:extLst>
              <a:ext uri="{FF2B5EF4-FFF2-40B4-BE49-F238E27FC236}">
                <a16:creationId xmlns:a16="http://schemas.microsoft.com/office/drawing/2014/main" id="{B555C9D0-499F-3A66-1F45-0862BDA44128}"/>
              </a:ext>
            </a:extLst>
          </p:cNvPr>
          <p:cNvSpPr txBox="1">
            <a:spLocks/>
          </p:cNvSpPr>
          <p:nvPr/>
        </p:nvSpPr>
        <p:spPr>
          <a:xfrm>
            <a:off x="4467955" y="1356967"/>
            <a:ext cx="3074000" cy="5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D" sz="2200" kern="0" dirty="0">
                <a:latin typeface="SimSun" panose="02010600030101010101" pitchFamily="2" charset="-122"/>
                <a:ea typeface="SimSun" panose="02010600030101010101" pitchFamily="2" charset="-122"/>
              </a:rPr>
              <a:t>Skills Demonstrated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531;p39">
            <a:extLst>
              <a:ext uri="{FF2B5EF4-FFF2-40B4-BE49-F238E27FC236}">
                <a16:creationId xmlns:a16="http://schemas.microsoft.com/office/drawing/2014/main" id="{E8AC9ABD-C3DE-D905-C085-C1E4407D660E}"/>
              </a:ext>
            </a:extLst>
          </p:cNvPr>
          <p:cNvSpPr txBox="1">
            <a:spLocks/>
          </p:cNvSpPr>
          <p:nvPr/>
        </p:nvSpPr>
        <p:spPr>
          <a:xfrm>
            <a:off x="1850800" y="2151668"/>
            <a:ext cx="8490400" cy="197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0666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ic Didone"/>
              <a:buNone/>
              <a:defRPr sz="12800" b="0" i="0" u="none" strike="noStrike" cap="non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>
            <a:r>
              <a:rPr lang="en-ID" sz="10200" kern="0" dirty="0">
                <a:latin typeface="SimSun" panose="02010600030101010101" pitchFamily="2" charset="-122"/>
                <a:ea typeface="SimSun" panose="02010600030101010101" pitchFamily="2" charset="-122"/>
              </a:rPr>
              <a:t>Thank You</a:t>
            </a:r>
          </a:p>
        </p:txBody>
      </p:sp>
      <p:cxnSp>
        <p:nvCxnSpPr>
          <p:cNvPr id="16" name="Google Shape;573;p43">
            <a:extLst>
              <a:ext uri="{FF2B5EF4-FFF2-40B4-BE49-F238E27FC236}">
                <a16:creationId xmlns:a16="http://schemas.microsoft.com/office/drawing/2014/main" id="{B16D8276-6187-0EE7-4A11-BA7D6A326743}"/>
              </a:ext>
            </a:extLst>
          </p:cNvPr>
          <p:cNvCxnSpPr>
            <a:cxnSpLocks/>
          </p:cNvCxnSpPr>
          <p:nvPr/>
        </p:nvCxnSpPr>
        <p:spPr>
          <a:xfrm>
            <a:off x="2659929" y="3846136"/>
            <a:ext cx="687214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16890036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 Illustrator Portfolio by Slides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ditorial Illustrator Portfolio by Slides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496</Words>
  <Application>Microsoft Office PowerPoint</Application>
  <PresentationFormat>Widescreen</PresentationFormat>
  <Paragraphs>94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Microsoft YaHei Light</vt:lpstr>
      <vt:lpstr>Microsoft YaHei UI Light</vt:lpstr>
      <vt:lpstr>SimSun</vt:lpstr>
      <vt:lpstr>Antic Didone</vt:lpstr>
      <vt:lpstr>Arial</vt:lpstr>
      <vt:lpstr>Bebas Neue</vt:lpstr>
      <vt:lpstr>Calibri</vt:lpstr>
      <vt:lpstr>Courier New</vt:lpstr>
      <vt:lpstr>Darker Grotesque SemiBold</vt:lpstr>
      <vt:lpstr>Nunito Light</vt:lpstr>
      <vt:lpstr>Nunito Medium</vt:lpstr>
      <vt:lpstr>Editorial Illustrator Portfolio by Slidesgo</vt:lpstr>
      <vt:lpstr>1_Editorial Illustrator Portfolio by Slidesgo</vt:lpstr>
      <vt:lpstr>Supply Chain Delivery Performance &amp; Financial Risk Analysis</vt:lpstr>
      <vt:lpstr>Executive Summary</vt:lpstr>
      <vt:lpstr>Business Problem &amp; Objectives</vt:lpstr>
      <vt:lpstr>Dataset Overview</vt:lpstr>
      <vt:lpstr>Delivery Performance Overview</vt:lpstr>
      <vt:lpstr>Market &amp; Shipping Mode Insights</vt:lpstr>
      <vt:lpstr>Delivery Risk &amp; Financial Impact</vt:lpstr>
      <vt:lpstr>Key Business Insights</vt:lpstr>
      <vt:lpstr>PowerPoint Presentation</vt:lpstr>
      <vt:lpstr>Tools, Skills &amp; Value Delivered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Adiel Franstito</dc:creator>
  <cp:lastModifiedBy>Adiel Franstito</cp:lastModifiedBy>
  <cp:revision>2</cp:revision>
  <dcterms:created xsi:type="dcterms:W3CDTF">2026-02-02T14:36:12Z</dcterms:created>
  <dcterms:modified xsi:type="dcterms:W3CDTF">2026-02-03T15:21:33Z</dcterms:modified>
</cp:coreProperties>
</file>